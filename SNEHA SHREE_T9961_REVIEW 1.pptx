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497" r:id="rId7"/>
    <p:sldId id="2147470498" r:id="rId8"/>
    <p:sldId id="2147470500" r:id="rId9"/>
    <p:sldId id="214747049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I</a:t>
            </a:r>
          </a:p>
          <a:p>
            <a:pPr lvl="0" algn="ctr">
              <a:defRPr/>
            </a:pPr>
            <a:r>
              <a:rPr lang="en-IN" sz="3600" dirty="0" err="1">
                <a:solidFill>
                  <a:schemeClr val="bg1"/>
                </a:solidFill>
              </a:rPr>
              <a:t>EduTrace</a:t>
            </a:r>
            <a:r>
              <a:rPr lang="en-IN" sz="3600" dirty="0">
                <a:solidFill>
                  <a:schemeClr val="bg1"/>
                </a:solidFill>
              </a:rPr>
              <a:t> – Exam-Aware Personalized RAG Assistant</a:t>
            </a:r>
            <a:r>
              <a:rPr lang="en-US" sz="3600" b="1" dirty="0">
                <a:solidFill>
                  <a:schemeClr val="bg1"/>
                </a:solidFill>
                <a:cs typeface="Calibri" panose="020F0502020204030204" pitchFamily="34" charset="0"/>
              </a:rPr>
              <a:t> </a:t>
            </a: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body  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latin typeface="Frutiger 45 bold"/>
                <a:cs typeface="Calibri" panose="020F0502020204030204" pitchFamily="34" charset="0"/>
              </a:rPr>
              <a:t>SNEHA SHREE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r>
              <a:rPr lang="en-IN" sz="2400" b="0" dirty="0" err="1"/>
              <a:t>EduTrace</a:t>
            </a:r>
            <a:r>
              <a:rPr lang="en-IN" sz="2400" b="0" dirty="0"/>
              <a:t> is an AI-powered personalized learning platform designed to help students understand concepts, identify weak areas, and prepare effectively for examinations.</a:t>
            </a:r>
          </a:p>
          <a:p>
            <a:r>
              <a:rPr lang="en-IN" sz="2400" b="0" dirty="0"/>
              <a:t>The system combines:</a:t>
            </a:r>
          </a:p>
          <a:p>
            <a:pPr lvl="0"/>
            <a:r>
              <a:rPr lang="en-IN" sz="2400" b="0" dirty="0"/>
              <a:t>Academic performance analysis </a:t>
            </a:r>
          </a:p>
          <a:p>
            <a:pPr lvl="0"/>
            <a:r>
              <a:rPr lang="en-IN" sz="2400" b="0" dirty="0"/>
              <a:t>Study materials and syllabus documents </a:t>
            </a:r>
          </a:p>
          <a:p>
            <a:pPr lvl="0"/>
            <a:r>
              <a:rPr lang="en-IN" sz="2400" b="0" dirty="0"/>
              <a:t>Previous-year question papers </a:t>
            </a:r>
          </a:p>
          <a:p>
            <a:pPr lvl="0"/>
            <a:r>
              <a:rPr lang="en-IN" sz="2400" b="0" dirty="0"/>
              <a:t>AI-powered concept explanation </a:t>
            </a:r>
          </a:p>
          <a:p>
            <a:pPr lvl="0"/>
            <a:r>
              <a:rPr lang="en-IN" sz="2400" b="0" dirty="0"/>
              <a:t>Retrieval-Augmented Generation (RAG) </a:t>
            </a:r>
          </a:p>
          <a:p>
            <a:pPr lvl="0"/>
            <a:r>
              <a:rPr lang="en-IN" sz="2400" b="0" dirty="0"/>
              <a:t>Personalized important-question generation </a:t>
            </a:r>
          </a:p>
          <a:p>
            <a:pPr lvl="0"/>
            <a:r>
              <a:rPr lang="en-IN" sz="2400" b="0" dirty="0"/>
              <a:t>Interactive AI assistance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 err="1"/>
              <a:t>Analyze</a:t>
            </a:r>
            <a:r>
              <a:rPr lang="en-IN" sz="2400" b="0" dirty="0"/>
              <a:t> student academic performance. </a:t>
            </a:r>
          </a:p>
          <a:p>
            <a:pPr lvl="0"/>
            <a:r>
              <a:rPr lang="en-IN" sz="2400" b="0" dirty="0"/>
              <a:t>Identify weak subjects, topics, and concepts. </a:t>
            </a:r>
          </a:p>
          <a:p>
            <a:pPr lvl="0"/>
            <a:r>
              <a:rPr lang="en-IN" sz="2400" b="0" dirty="0"/>
              <a:t>Provide personalized learning recommendations. </a:t>
            </a:r>
          </a:p>
          <a:p>
            <a:pPr lvl="0"/>
            <a:r>
              <a:rPr lang="en-IN" sz="2400" b="0" dirty="0"/>
              <a:t>Explain difficult concepts in a simple manner. </a:t>
            </a:r>
          </a:p>
          <a:p>
            <a:pPr lvl="0"/>
            <a:r>
              <a:rPr lang="en-IN" sz="2400" b="0" dirty="0"/>
              <a:t>Retrieve relevant information from uploaded educational documents. </a:t>
            </a:r>
          </a:p>
          <a:p>
            <a:pPr lvl="0"/>
            <a:r>
              <a:rPr lang="en-IN" sz="2400" b="0" dirty="0" err="1"/>
              <a:t>Analyze</a:t>
            </a:r>
            <a:r>
              <a:rPr lang="en-IN" sz="2400" b="0" dirty="0"/>
              <a:t> previous-year question papers. </a:t>
            </a:r>
          </a:p>
          <a:p>
            <a:pPr lvl="0"/>
            <a:r>
              <a:rPr lang="en-IN" sz="2400" b="0" dirty="0"/>
              <a:t>Identify important topics and potential exam questions.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b="0" dirty="0"/>
              <a:t>Research in AI-based education has focused on:</a:t>
            </a:r>
          </a:p>
          <a:p>
            <a:pPr lvl="0"/>
            <a:r>
              <a:rPr lang="en-IN" b="0" dirty="0"/>
              <a:t>Intelligent Tutoring Systems </a:t>
            </a:r>
          </a:p>
          <a:p>
            <a:pPr lvl="0"/>
            <a:r>
              <a:rPr lang="en-IN" b="0" dirty="0"/>
              <a:t>Personalized Learning Systems </a:t>
            </a:r>
          </a:p>
          <a:p>
            <a:pPr lvl="0"/>
            <a:r>
              <a:rPr lang="en-IN" b="0" dirty="0"/>
              <a:t>Learning Analytics </a:t>
            </a:r>
          </a:p>
          <a:p>
            <a:pPr lvl="0"/>
            <a:r>
              <a:rPr lang="en-IN" b="0" dirty="0"/>
              <a:t>Educational Data Mining </a:t>
            </a:r>
          </a:p>
          <a:p>
            <a:pPr lvl="0"/>
            <a:r>
              <a:rPr lang="en-IN" b="0" dirty="0"/>
              <a:t>Question Recommendation Systems </a:t>
            </a:r>
          </a:p>
          <a:p>
            <a:pPr lvl="0"/>
            <a:r>
              <a:rPr lang="en-IN" b="0" dirty="0"/>
              <a:t>Large Language Models </a:t>
            </a:r>
          </a:p>
          <a:p>
            <a:pPr lvl="0"/>
            <a:r>
              <a:rPr lang="en-IN" b="0" dirty="0"/>
              <a:t>Retrieval-Augmented Generation</a:t>
            </a:r>
          </a:p>
          <a:p>
            <a:pPr lvl="1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dirty="0"/>
              <a:t>Literature Review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Calibri body 28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IN" sz="3600" dirty="0"/>
              <a:t>Literature Summary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046946" y="423083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28F2B4-5C06-4C3A-B477-F80FA1377F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87701"/>
              </p:ext>
            </p:extLst>
          </p:nvPr>
        </p:nvGraphicFramePr>
        <p:xfrm>
          <a:off x="417095" y="1443792"/>
          <a:ext cx="11265318" cy="34257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55106">
                  <a:extLst>
                    <a:ext uri="{9D8B030D-6E8A-4147-A177-3AD203B41FA5}">
                      <a16:colId xmlns:a16="http://schemas.microsoft.com/office/drawing/2014/main" val="4105395129"/>
                    </a:ext>
                  </a:extLst>
                </a:gridCol>
                <a:gridCol w="3755106">
                  <a:extLst>
                    <a:ext uri="{9D8B030D-6E8A-4147-A177-3AD203B41FA5}">
                      <a16:colId xmlns:a16="http://schemas.microsoft.com/office/drawing/2014/main" val="3963761613"/>
                    </a:ext>
                  </a:extLst>
                </a:gridCol>
                <a:gridCol w="3755106">
                  <a:extLst>
                    <a:ext uri="{9D8B030D-6E8A-4147-A177-3AD203B41FA5}">
                      <a16:colId xmlns:a16="http://schemas.microsoft.com/office/drawing/2014/main" val="72262849"/>
                    </a:ext>
                  </a:extLst>
                </a:gridCol>
              </a:tblGrid>
              <a:tr h="11142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Existing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927771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Learning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4950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Intelligent Tutoring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Personalized teaching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Domain/content 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602892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Educational Data Mining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Finds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Requires structured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491112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LLM-based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Natural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May generate unsupported answers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110461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Grounded responses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Requires quality knowledge 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4349753"/>
                  </a:ext>
                </a:extLst>
              </a:tr>
              <a:tr h="3852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Question Recommendation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 preparation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May focus only on questions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1458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lvl="0"/>
            <a:r>
              <a:rPr lang="en-IN" sz="2400" b="0" dirty="0"/>
              <a:t>Collected academic, assessment, topic-performance, and question-related datasets. </a:t>
            </a:r>
          </a:p>
          <a:p>
            <a:pPr lvl="0"/>
            <a:r>
              <a:rPr lang="en-IN" sz="2400" b="0" dirty="0"/>
              <a:t>Removed duplicate and irrelevant records. </a:t>
            </a:r>
          </a:p>
          <a:p>
            <a:pPr lvl="0"/>
            <a:r>
              <a:rPr lang="en-IN" sz="2400" b="0" dirty="0"/>
              <a:t>Handled missing and inconsistent values. </a:t>
            </a:r>
          </a:p>
          <a:p>
            <a:pPr lvl="0"/>
            <a:r>
              <a:rPr lang="en-IN" sz="2400" b="0" dirty="0"/>
              <a:t>Standardized column names and data formats. </a:t>
            </a:r>
          </a:p>
          <a:p>
            <a:pPr lvl="0"/>
            <a:r>
              <a:rPr lang="en-IN" sz="2400" b="0" dirty="0"/>
              <a:t>Converted categorical information into a consistent structured format. </a:t>
            </a:r>
          </a:p>
          <a:p>
            <a:pPr lvl="0"/>
            <a:r>
              <a:rPr lang="en-IN" sz="2400" b="0" dirty="0"/>
              <a:t>Cleaned topic, subject, subtopic, and keyword information. </a:t>
            </a:r>
          </a:p>
          <a:p>
            <a:pPr lvl="0"/>
            <a:r>
              <a:rPr lang="en-IN" sz="2400" b="0" dirty="0"/>
              <a:t>Created a unified dataset for analysis and AI-based personalization.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Data preprocessing &amp; EDA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Approach/Algorithms/Tools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757F22-B3F1-9D1F-707C-0D385B8CECB5}"/>
              </a:ext>
            </a:extLst>
          </p:cNvPr>
          <p:cNvGraphicFramePr>
            <a:graphicFrameLocks noGrp="1"/>
          </p:cNvGraphicFramePr>
          <p:nvPr/>
        </p:nvGraphicFramePr>
        <p:xfrm>
          <a:off x="677863" y="1440498"/>
          <a:ext cx="11004549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8183">
                  <a:extLst>
                    <a:ext uri="{9D8B030D-6E8A-4147-A177-3AD203B41FA5}">
                      <a16:colId xmlns:a16="http://schemas.microsoft.com/office/drawing/2014/main" val="2457027324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2229352232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39890953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Algorithms / Techniques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Tools / Technologies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9889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052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Cleaning &amp; Normalization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Pandas, NumPy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4498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Statistical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Matplotlib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8379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 &amp; Score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4364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 Topic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Topic-wise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3711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Knowledge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Text Chunking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PDF/DOCX/TXT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9706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Semantic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Vector Embeddings &amp; Cosine Similarity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Vector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5694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Personalized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Recommendation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1227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Question Answering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Groq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40457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Response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FastAPI</a:t>
                      </a:r>
                      <a:r>
                        <a:rPr lang="en-IN" dirty="0"/>
                        <a:t> + React.js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795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9A058-E477-163A-1B3E-61A05B0F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69BAD7-4402-029D-94EE-84728E7A1B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F67352-6E77-1E87-24B7-ED7906E0679C}"/>
              </a:ext>
            </a:extLst>
          </p:cNvPr>
          <p:cNvSpPr txBox="1"/>
          <p:nvPr/>
        </p:nvSpPr>
        <p:spPr>
          <a:xfrm>
            <a:off x="384333" y="465963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Project plan/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milestones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progress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F4198-C244-16A7-B796-A2E4B5EA6A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26B487-77E4-5D5B-7416-E64E3C867A9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789624-55EF-2363-AD74-782781270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104103"/>
              </p:ext>
            </p:extLst>
          </p:nvPr>
        </p:nvGraphicFramePr>
        <p:xfrm>
          <a:off x="208822" y="1192215"/>
          <a:ext cx="10624340" cy="47942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6085">
                  <a:extLst>
                    <a:ext uri="{9D8B030D-6E8A-4147-A177-3AD203B41FA5}">
                      <a16:colId xmlns:a16="http://schemas.microsoft.com/office/drawing/2014/main" val="3169285423"/>
                    </a:ext>
                  </a:extLst>
                </a:gridCol>
                <a:gridCol w="2656085">
                  <a:extLst>
                    <a:ext uri="{9D8B030D-6E8A-4147-A177-3AD203B41FA5}">
                      <a16:colId xmlns:a16="http://schemas.microsoft.com/office/drawing/2014/main" val="2588632483"/>
                    </a:ext>
                  </a:extLst>
                </a:gridCol>
                <a:gridCol w="2656085">
                  <a:extLst>
                    <a:ext uri="{9D8B030D-6E8A-4147-A177-3AD203B41FA5}">
                      <a16:colId xmlns:a16="http://schemas.microsoft.com/office/drawing/2014/main" val="2392382671"/>
                    </a:ext>
                  </a:extLst>
                </a:gridCol>
                <a:gridCol w="2656085">
                  <a:extLst>
                    <a:ext uri="{9D8B030D-6E8A-4147-A177-3AD203B41FA5}">
                      <a16:colId xmlns:a16="http://schemas.microsoft.com/office/drawing/2014/main" val="4073942235"/>
                    </a:ext>
                  </a:extLst>
                </a:gridCol>
              </a:tblGrid>
              <a:tr h="309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Phase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Milestone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/>
                        <a:t>Progress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Status</a:t>
                      </a:r>
                    </a:p>
                  </a:txBody>
                  <a:tcPr marL="77327" marR="77327" marT="38663" marB="38663" anchor="ctr"/>
                </a:tc>
                <a:extLst>
                  <a:ext uri="{0D108BD9-81ED-4DB2-BD59-A6C34878D82A}">
                    <a16:rowId xmlns:a16="http://schemas.microsoft.com/office/drawing/2014/main" val="3865050759"/>
                  </a:ext>
                </a:extLst>
              </a:tr>
              <a:tr h="541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Problem Identification &amp; Requirement Analysis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/>
                        <a:t>100%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✅ Completed</a:t>
                      </a:r>
                    </a:p>
                  </a:txBody>
                  <a:tcPr marL="77327" marR="77327" marT="38663" marB="38663" anchor="ctr"/>
                </a:tc>
                <a:extLst>
                  <a:ext uri="{0D108BD9-81ED-4DB2-BD59-A6C34878D82A}">
                    <a16:rowId xmlns:a16="http://schemas.microsoft.com/office/drawing/2014/main" val="436244275"/>
                  </a:ext>
                </a:extLst>
              </a:tr>
              <a:tr h="541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2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Dataset Collection &amp; Understanding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/>
                        <a:t>100%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✅ Completed</a:t>
                      </a:r>
                    </a:p>
                  </a:txBody>
                  <a:tcPr marL="77327" marR="77327" marT="38663" marB="38663" anchor="ctr"/>
                </a:tc>
                <a:extLst>
                  <a:ext uri="{0D108BD9-81ED-4DB2-BD59-A6C34878D82A}">
                    <a16:rowId xmlns:a16="http://schemas.microsoft.com/office/drawing/2014/main" val="804556735"/>
                  </a:ext>
                </a:extLst>
              </a:tr>
              <a:tr h="309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3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Data Preprocessing &amp; EDA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/>
                        <a:t>100%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✅ Completed</a:t>
                      </a:r>
                    </a:p>
                  </a:txBody>
                  <a:tcPr marL="77327" marR="77327" marT="38663" marB="38663" anchor="ctr"/>
                </a:tc>
                <a:extLst>
                  <a:ext uri="{0D108BD9-81ED-4DB2-BD59-A6C34878D82A}">
                    <a16:rowId xmlns:a16="http://schemas.microsoft.com/office/drawing/2014/main" val="1741163174"/>
                  </a:ext>
                </a:extLst>
              </a:tr>
              <a:tr h="541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4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Performance Analysis Module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/>
                        <a:t>100%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✅ Completed</a:t>
                      </a:r>
                    </a:p>
                  </a:txBody>
                  <a:tcPr marL="77327" marR="77327" marT="38663" marB="38663" anchor="ctr"/>
                </a:tc>
                <a:extLst>
                  <a:ext uri="{0D108BD9-81ED-4DB2-BD59-A6C34878D82A}">
                    <a16:rowId xmlns:a16="http://schemas.microsoft.com/office/drawing/2014/main" val="1809971799"/>
                  </a:ext>
                </a:extLst>
              </a:tr>
              <a:tr h="541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5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Knowledge Base Development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/>
                        <a:t>90%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🔄 In Progress</a:t>
                      </a:r>
                    </a:p>
                  </a:txBody>
                  <a:tcPr marL="77327" marR="77327" marT="38663" marB="38663" anchor="ctr"/>
                </a:tc>
                <a:extLst>
                  <a:ext uri="{0D108BD9-81ED-4DB2-BD59-A6C34878D82A}">
                    <a16:rowId xmlns:a16="http://schemas.microsoft.com/office/drawing/2014/main" val="3804765451"/>
                  </a:ext>
                </a:extLst>
              </a:tr>
              <a:tr h="309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6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RAG Pipeline Development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/>
                        <a:t>85%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🔄 In Progress</a:t>
                      </a:r>
                    </a:p>
                  </a:txBody>
                  <a:tcPr marL="77327" marR="77327" marT="38663" marB="38663" anchor="ctr"/>
                </a:tc>
                <a:extLst>
                  <a:ext uri="{0D108BD9-81ED-4DB2-BD59-A6C34878D82A}">
                    <a16:rowId xmlns:a16="http://schemas.microsoft.com/office/drawing/2014/main" val="3638619495"/>
                  </a:ext>
                </a:extLst>
              </a:tr>
              <a:tr h="309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7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AI Assistant Integration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/>
                        <a:t>80%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🔄 In Progress</a:t>
                      </a:r>
                    </a:p>
                  </a:txBody>
                  <a:tcPr marL="77327" marR="77327" marT="38663" marB="38663" anchor="ctr"/>
                </a:tc>
                <a:extLst>
                  <a:ext uri="{0D108BD9-81ED-4DB2-BD59-A6C34878D82A}">
                    <a16:rowId xmlns:a16="http://schemas.microsoft.com/office/drawing/2014/main" val="917112785"/>
                  </a:ext>
                </a:extLst>
              </a:tr>
              <a:tr h="309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8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EduTrace Frontend &amp; UI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/>
                        <a:t>90%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🔄 In Progress</a:t>
                      </a:r>
                    </a:p>
                  </a:txBody>
                  <a:tcPr marL="77327" marR="77327" marT="38663" marB="38663" anchor="ctr"/>
                </a:tc>
                <a:extLst>
                  <a:ext uri="{0D108BD9-81ED-4DB2-BD59-A6C34878D82A}">
                    <a16:rowId xmlns:a16="http://schemas.microsoft.com/office/drawing/2014/main" val="3327069961"/>
                  </a:ext>
                </a:extLst>
              </a:tr>
              <a:tr h="541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9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System Integration &amp; Testing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/>
                        <a:t>60%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🔄 In Progress</a:t>
                      </a:r>
                    </a:p>
                  </a:txBody>
                  <a:tcPr marL="77327" marR="77327" marT="38663" marB="38663" anchor="ctr"/>
                </a:tc>
                <a:extLst>
                  <a:ext uri="{0D108BD9-81ED-4DB2-BD59-A6C34878D82A}">
                    <a16:rowId xmlns:a16="http://schemas.microsoft.com/office/drawing/2014/main" val="1424960894"/>
                  </a:ext>
                </a:extLst>
              </a:tr>
              <a:tr h="5412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10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Final Evaluation &amp; Documentation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500"/>
                        <a:t>30%</a:t>
                      </a:r>
                    </a:p>
                  </a:txBody>
                  <a:tcPr marL="77327" marR="77327" marT="38663" marB="38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⏳ Pending</a:t>
                      </a:r>
                    </a:p>
                  </a:txBody>
                  <a:tcPr marL="77327" marR="77327" marT="38663" marB="38663" anchor="ctr"/>
                </a:tc>
                <a:extLst>
                  <a:ext uri="{0D108BD9-81ED-4DB2-BD59-A6C34878D82A}">
                    <a16:rowId xmlns:a16="http://schemas.microsoft.com/office/drawing/2014/main" val="3312356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10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Pipeline structure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E7F215-FC02-BD97-A1FD-A74A0EF3F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691291"/>
              </p:ext>
            </p:extLst>
          </p:nvPr>
        </p:nvGraphicFramePr>
        <p:xfrm>
          <a:off x="221275" y="1271219"/>
          <a:ext cx="11461137" cy="41117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20379">
                  <a:extLst>
                    <a:ext uri="{9D8B030D-6E8A-4147-A177-3AD203B41FA5}">
                      <a16:colId xmlns:a16="http://schemas.microsoft.com/office/drawing/2014/main" val="3521199663"/>
                    </a:ext>
                  </a:extLst>
                </a:gridCol>
                <a:gridCol w="3820379">
                  <a:extLst>
                    <a:ext uri="{9D8B030D-6E8A-4147-A177-3AD203B41FA5}">
                      <a16:colId xmlns:a16="http://schemas.microsoft.com/office/drawing/2014/main" val="3436858645"/>
                    </a:ext>
                  </a:extLst>
                </a:gridCol>
                <a:gridCol w="3820379">
                  <a:extLst>
                    <a:ext uri="{9D8B030D-6E8A-4147-A177-3AD203B41FA5}">
                      <a16:colId xmlns:a16="http://schemas.microsoft.com/office/drawing/2014/main" val="719835774"/>
                    </a:ext>
                  </a:extLst>
                </a:gridCol>
              </a:tblGrid>
              <a:tr h="440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Pipeline 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3496308"/>
                  </a:ext>
                </a:extLst>
              </a:tr>
              <a:tr h="770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Collect academic, assessment, topic and question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0652785"/>
                  </a:ext>
                </a:extLst>
              </a:tr>
              <a:tr h="9184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Clean, normalize and structure the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5926459"/>
                  </a:ext>
                </a:extLst>
              </a:tr>
              <a:tr h="770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EDA &amp;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Identify performance patterns and learning gaps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0606710"/>
                  </a:ext>
                </a:extLst>
              </a:tr>
              <a:tr h="440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 Profiling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 a personalized learning profile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4951621"/>
                  </a:ext>
                </a:extLst>
              </a:tr>
              <a:tr h="770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Knowledge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 syllabus, notes and previous-year question papers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074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573</Words>
  <Application>Microsoft Office PowerPoint</Application>
  <PresentationFormat>Widescreen</PresentationFormat>
  <Paragraphs>178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Sneha shree S</cp:lastModifiedBy>
  <cp:revision>14</cp:revision>
  <dcterms:created xsi:type="dcterms:W3CDTF">2024-05-13T10:33:11Z</dcterms:created>
  <dcterms:modified xsi:type="dcterms:W3CDTF">2026-10-08T03:18:06Z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