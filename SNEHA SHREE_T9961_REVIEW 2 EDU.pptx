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8" r:id="rId8"/>
    <p:sldId id="2147470487" r:id="rId9"/>
    <p:sldId id="214747049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5400" dirty="0" err="1">
                <a:solidFill>
                  <a:schemeClr val="bg1"/>
                </a:solidFill>
              </a:rPr>
              <a:t>EduTrace</a:t>
            </a:r>
            <a:r>
              <a:rPr lang="en-IN" sz="5400" dirty="0">
                <a:solidFill>
                  <a:schemeClr val="bg1"/>
                </a:solidFill>
              </a:rPr>
              <a:t> – Exam-Aware Personalized RAG Assistant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SNEHA SHREE S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b="0" dirty="0" err="1"/>
              <a:t>EduTrace</a:t>
            </a:r>
            <a:r>
              <a:rPr lang="en-IN" sz="2400" b="0" dirty="0"/>
              <a:t> – AI-Powered Personalized Learning Assistant</a:t>
            </a:r>
          </a:p>
          <a:p>
            <a:pPr lvl="0"/>
            <a:r>
              <a:rPr lang="en-IN" sz="2400" b="0" dirty="0" err="1"/>
              <a:t>EduTrace</a:t>
            </a:r>
            <a:r>
              <a:rPr lang="en-IN" sz="2400" b="0" dirty="0"/>
              <a:t> is an AI-powered educational workspace designed to support personalized learning. </a:t>
            </a:r>
          </a:p>
          <a:p>
            <a:pPr lvl="0"/>
            <a:r>
              <a:rPr lang="en-IN" sz="2400" b="0" dirty="0"/>
              <a:t>It </a:t>
            </a:r>
            <a:r>
              <a:rPr lang="en-IN" sz="2400" b="0" dirty="0" err="1"/>
              <a:t>analyzes</a:t>
            </a:r>
            <a:r>
              <a:rPr lang="en-IN" sz="2400" b="0" dirty="0"/>
              <a:t> a learner’s academic performance, assessment results, and study data. </a:t>
            </a:r>
          </a:p>
          <a:p>
            <a:pPr lvl="0"/>
            <a:r>
              <a:rPr lang="en-IN" sz="2400" b="0" dirty="0"/>
              <a:t>The system identifies weak areas, learning gaps, and important topics. </a:t>
            </a:r>
          </a:p>
          <a:p>
            <a:pPr lvl="0"/>
            <a:r>
              <a:rPr lang="en-IN" sz="2400" b="0" dirty="0"/>
              <a:t>It provides concept explanations, examples, study guidance, and exam-focused questions. </a:t>
            </a:r>
          </a:p>
          <a:p>
            <a:pPr lvl="0"/>
            <a:r>
              <a:rPr lang="en-IN" sz="2400" b="0" dirty="0"/>
              <a:t>A Retrieval-Augmented Generation (RAG) system allows the AI to use trusted educational documents. </a:t>
            </a:r>
          </a:p>
          <a:p>
            <a:pPr lvl="0"/>
            <a:r>
              <a:rPr lang="en-IN" sz="2400" b="0" dirty="0" err="1"/>
              <a:t>EduTrace</a:t>
            </a:r>
            <a:r>
              <a:rPr lang="en-IN" sz="2400" b="0" dirty="0"/>
              <a:t> aims to make learning personalized, interactive, and data-driven.</a:t>
            </a:r>
          </a:p>
          <a:p>
            <a:pPr marL="0" indent="0">
              <a:buNone/>
            </a:pPr>
            <a:endParaRPr lang="en-IN" sz="2400" b="0" dirty="0"/>
          </a:p>
          <a:p>
            <a:pPr marL="0" lvl="0" indent="0">
              <a:buNone/>
            </a:pPr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Students often receive the same learning materials, regardless of their individual performance. </a:t>
            </a:r>
          </a:p>
          <a:p>
            <a:pPr lvl="0"/>
            <a:r>
              <a:rPr lang="en-IN" sz="2400" b="0" dirty="0"/>
              <a:t>Identifying weak concepts and learning gaps manually is time-consuming. </a:t>
            </a:r>
          </a:p>
          <a:p>
            <a:pPr lvl="0"/>
            <a:r>
              <a:rPr lang="en-IN" sz="2400" b="0" dirty="0"/>
              <a:t>Marks alone do not explain why a student is struggling. </a:t>
            </a:r>
          </a:p>
          <a:p>
            <a:pPr lvl="0"/>
            <a:r>
              <a:rPr lang="en-IN" sz="2400" b="0" dirty="0"/>
              <a:t>Students may find it difficult to decide what to study and where to start. </a:t>
            </a:r>
          </a:p>
          <a:p>
            <a:pPr lvl="0"/>
            <a:r>
              <a:rPr lang="en-IN" sz="2400" b="0" dirty="0"/>
              <a:t>Traditional systems provide resources but limited personalized explanations. </a:t>
            </a:r>
          </a:p>
          <a:p>
            <a:pPr lvl="0"/>
            <a:r>
              <a:rPr lang="en-IN" sz="2400" b="0" dirty="0"/>
              <a:t>General AI chatbots may provide answers without considering the learner’s specific academic context. </a:t>
            </a:r>
          </a:p>
          <a:p>
            <a:pPr lvl="0"/>
            <a:r>
              <a:rPr lang="en-IN" sz="2400" b="0" dirty="0"/>
              <a:t>There is a need for an integrated system that connects performance analysis + knowledge resources + AI assistance.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2080383" cy="4142989"/>
          </a:xfrm>
        </p:spPr>
        <p:txBody>
          <a:bodyPr/>
          <a:lstStyle/>
          <a:p>
            <a:pPr lvl="0"/>
            <a:r>
              <a:rPr lang="en-IN" sz="2400" b="0" dirty="0" err="1"/>
              <a:t>Analyze</a:t>
            </a:r>
            <a:r>
              <a:rPr lang="en-IN" sz="2400" b="0" dirty="0"/>
              <a:t> individual academic performance. </a:t>
            </a:r>
          </a:p>
          <a:p>
            <a:pPr lvl="0"/>
            <a:r>
              <a:rPr lang="en-IN" sz="2400" b="0" dirty="0"/>
              <a:t>Identify weak topics and learning gaps. </a:t>
            </a:r>
          </a:p>
          <a:p>
            <a:pPr lvl="0"/>
            <a:r>
              <a:rPr lang="en-IN" sz="2400" b="0" dirty="0"/>
              <a:t>Provide personalized concept explanations. </a:t>
            </a:r>
          </a:p>
          <a:p>
            <a:pPr lvl="0"/>
            <a:r>
              <a:rPr lang="en-IN" sz="2400" b="0" dirty="0"/>
              <a:t>Generate examples and simplified explanations for difficult concepts. </a:t>
            </a:r>
          </a:p>
          <a:p>
            <a:pPr lvl="0"/>
            <a:r>
              <a:rPr lang="en-IN" sz="2400" b="0" dirty="0"/>
              <a:t>Recommend important topics and exam-oriented questions. </a:t>
            </a:r>
          </a:p>
          <a:p>
            <a:pPr lvl="0"/>
            <a:r>
              <a:rPr lang="en-IN" sz="2400" b="0" dirty="0"/>
              <a:t>Use RAG to retrieve relevant information from uploaded study materials. </a:t>
            </a:r>
          </a:p>
          <a:p>
            <a:pPr lvl="0"/>
            <a:r>
              <a:rPr lang="en-IN" sz="2400" b="0" dirty="0"/>
              <a:t>Provide an interactive AI learning assistant. </a:t>
            </a:r>
          </a:p>
          <a:p>
            <a:pPr lvl="0"/>
            <a:r>
              <a:rPr lang="en-IN" sz="2400" b="0" dirty="0"/>
              <a:t>Help learners create a more focused and effective study plan.</a:t>
            </a:r>
          </a:p>
          <a:p>
            <a:pPr lvl="0"/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5" y="441374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Objectives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-131652" y="114887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Learning Management Systems mainly provide courses, materials, assignments, and assessments. </a:t>
            </a:r>
          </a:p>
          <a:p>
            <a:pPr lvl="0"/>
            <a:r>
              <a:rPr lang="en-IN" sz="2400" b="0" dirty="0"/>
              <a:t>Performance analytics systems focus mainly on marks and statistical reports. </a:t>
            </a:r>
          </a:p>
          <a:p>
            <a:pPr lvl="0"/>
            <a:r>
              <a:rPr lang="en-IN" sz="2400" b="0" dirty="0"/>
              <a:t>AI educational assistants provide general explanations and question answering. </a:t>
            </a:r>
          </a:p>
          <a:p>
            <a:pPr lvl="0"/>
            <a:r>
              <a:rPr lang="en-IN" sz="2400" b="0" dirty="0"/>
              <a:t>RAG-based systems improve AI responses by retrieving information from external knowledge sources. </a:t>
            </a:r>
          </a:p>
          <a:p>
            <a:pPr lvl="0"/>
            <a:r>
              <a:rPr lang="en-IN" sz="2400" b="0" dirty="0"/>
              <a:t>However, these capabilities are often implemented as separate systems. </a:t>
            </a:r>
          </a:p>
          <a:p>
            <a:pPr lvl="0"/>
            <a:r>
              <a:rPr lang="en-IN" sz="2400" b="0" dirty="0"/>
              <a:t>Many systems do not combine individual performance data with personalized AI assistance.</a:t>
            </a:r>
          </a:p>
          <a:p>
            <a:pPr marL="0" indent="0">
              <a:buNone/>
            </a:pPr>
            <a:endParaRPr lang="en-IN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Existing Systems &amp; Research Insights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8203D5-E944-2159-DB14-3A1ED905A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345025"/>
              </p:ext>
            </p:extLst>
          </p:nvPr>
        </p:nvGraphicFramePr>
        <p:xfrm>
          <a:off x="255996" y="1323987"/>
          <a:ext cx="11136978" cy="37206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2326">
                  <a:extLst>
                    <a:ext uri="{9D8B030D-6E8A-4147-A177-3AD203B41FA5}">
                      <a16:colId xmlns:a16="http://schemas.microsoft.com/office/drawing/2014/main" val="528309511"/>
                    </a:ext>
                  </a:extLst>
                </a:gridCol>
                <a:gridCol w="3712326">
                  <a:extLst>
                    <a:ext uri="{9D8B030D-6E8A-4147-A177-3AD203B41FA5}">
                      <a16:colId xmlns:a16="http://schemas.microsoft.com/office/drawing/2014/main" val="1707299893"/>
                    </a:ext>
                  </a:extLst>
                </a:gridCol>
                <a:gridCol w="3712326">
                  <a:extLst>
                    <a:ext uri="{9D8B030D-6E8A-4147-A177-3AD203B41FA5}">
                      <a16:colId xmlns:a16="http://schemas.microsoft.com/office/drawing/2014/main" val="2350970419"/>
                    </a:ext>
                  </a:extLst>
                </a:gridCol>
              </a:tblGrid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EduTrace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0025922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Marks-based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Topic &amp; performance-based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566242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Resources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Personalized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579892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Context-aware responses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228460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/ separate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RAG-based retrieval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867571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Generic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Personalized preparation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207318"/>
                  </a:ext>
                </a:extLst>
              </a:tr>
              <a:tr h="53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explanations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 + example + key 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135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7F831-4036-F211-13C2-968BF65FE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77" y="365125"/>
            <a:ext cx="10515600" cy="1325563"/>
          </a:xfrm>
        </p:spPr>
        <p:txBody>
          <a:bodyPr/>
          <a:lstStyle/>
          <a:p>
            <a:r>
              <a:rPr lang="en-IN" dirty="0"/>
              <a:t>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58B1F-98A2-4896-9153-675287FE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77" y="1401619"/>
            <a:ext cx="11004446" cy="5091256"/>
          </a:xfrm>
        </p:spPr>
        <p:txBody>
          <a:bodyPr>
            <a:normAutofit/>
          </a:bodyPr>
          <a:lstStyle/>
          <a:p>
            <a:r>
              <a:rPr lang="en-IN" dirty="0"/>
              <a:t>he Knowledge Base stores the educational information required by the AI assistant to generate relevant and grounded responses.</a:t>
            </a:r>
          </a:p>
          <a:p>
            <a:r>
              <a:rPr lang="en-IN" dirty="0"/>
              <a:t>Knowledge Base Components</a:t>
            </a:r>
          </a:p>
          <a:p>
            <a:pPr lvl="0"/>
            <a:r>
              <a:rPr lang="en-IN" dirty="0"/>
              <a:t>📖 Study Materials </a:t>
            </a:r>
          </a:p>
          <a:p>
            <a:pPr lvl="0"/>
            <a:r>
              <a:rPr lang="en-IN" dirty="0"/>
              <a:t>📑 Syllabus Documents </a:t>
            </a:r>
          </a:p>
          <a:p>
            <a:pPr lvl="0"/>
            <a:r>
              <a:rPr lang="en-IN" dirty="0"/>
              <a:t>📝 Previous-Year Question Papers </a:t>
            </a:r>
          </a:p>
          <a:p>
            <a:pPr lvl="0"/>
            <a:r>
              <a:rPr lang="en-IN" dirty="0"/>
              <a:t>📚 Concept Notes </a:t>
            </a:r>
          </a:p>
          <a:p>
            <a:pPr lvl="0"/>
            <a:r>
              <a:rPr lang="en-IN" dirty="0"/>
              <a:t>🔑 Topics &amp; Keywords </a:t>
            </a:r>
          </a:p>
          <a:p>
            <a:pPr lvl="0"/>
            <a:r>
              <a:rPr lang="en-IN" dirty="0"/>
              <a:t>🎯 Important Questions </a:t>
            </a:r>
          </a:p>
          <a:p>
            <a:pPr lvl="0"/>
            <a:r>
              <a:rPr lang="en-IN" dirty="0"/>
              <a:t>📊 Performance-related Knowledge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04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400" b="0" dirty="0"/>
              <a:t>1. Academic Performance Data</a:t>
            </a:r>
          </a:p>
          <a:p>
            <a:pPr lvl="0"/>
            <a:r>
              <a:rPr lang="en-IN" sz="2400" b="0" dirty="0"/>
              <a:t>Internal assessment marks. </a:t>
            </a:r>
          </a:p>
          <a:p>
            <a:pPr lvl="0"/>
            <a:r>
              <a:rPr lang="en-IN" sz="2400" b="0" dirty="0"/>
              <a:t>Assignment scores. </a:t>
            </a:r>
          </a:p>
          <a:p>
            <a:pPr lvl="0"/>
            <a:r>
              <a:rPr lang="en-IN" sz="2400" b="0" dirty="0"/>
              <a:t>Final examination scores. </a:t>
            </a:r>
          </a:p>
          <a:p>
            <a:pPr lvl="0"/>
            <a:r>
              <a:rPr lang="en-IN" sz="2400" b="0" dirty="0"/>
              <a:t>Subject/topic performance. </a:t>
            </a:r>
          </a:p>
          <a:p>
            <a:r>
              <a:rPr lang="en-IN" sz="2400" b="0" dirty="0"/>
              <a:t>2. Learning Performance Data</a:t>
            </a:r>
          </a:p>
          <a:p>
            <a:pPr lvl="0"/>
            <a:r>
              <a:rPr lang="en-IN" sz="2400" b="0" dirty="0"/>
              <a:t>Topic-wise question attempts. </a:t>
            </a:r>
          </a:p>
          <a:p>
            <a:pPr lvl="0"/>
            <a:r>
              <a:rPr lang="en-IN" sz="2400" b="0" dirty="0"/>
              <a:t>Correct and incorrect answers. </a:t>
            </a:r>
          </a:p>
          <a:p>
            <a:pPr lvl="0"/>
            <a:r>
              <a:rPr lang="en-IN" sz="2400" b="0" dirty="0"/>
              <a:t>Accuracy. </a:t>
            </a:r>
          </a:p>
          <a:p>
            <a:pPr lvl="0"/>
            <a:r>
              <a:rPr lang="en-IN" sz="2400" b="0" dirty="0"/>
              <a:t>Weak-topic indicators.</a:t>
            </a:r>
          </a:p>
          <a:p>
            <a:pPr marL="457200" lvl="1" indent="0">
              <a:buNone/>
            </a:pP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Data Sources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b="0" dirty="0"/>
              <a:t>Performance Analysis Results</a:t>
            </a:r>
          </a:p>
          <a:p>
            <a:r>
              <a:rPr lang="en-IN" sz="2400" b="0" dirty="0"/>
              <a:t>The system can generate indicators such as:</a:t>
            </a:r>
          </a:p>
          <a:p>
            <a:pPr lvl="0"/>
            <a:r>
              <a:rPr lang="en-IN" sz="2400" b="0" dirty="0"/>
              <a:t>Internal assessment performance </a:t>
            </a:r>
          </a:p>
          <a:p>
            <a:pPr lvl="0"/>
            <a:r>
              <a:rPr lang="en-IN" sz="2400" b="0" dirty="0"/>
              <a:t>Assignment performance </a:t>
            </a:r>
          </a:p>
          <a:p>
            <a:pPr lvl="0"/>
            <a:r>
              <a:rPr lang="en-IN" sz="2400" b="0" dirty="0"/>
              <a:t>Final examination performance </a:t>
            </a:r>
          </a:p>
          <a:p>
            <a:pPr lvl="0"/>
            <a:r>
              <a:rPr lang="en-IN" sz="2400" b="0" dirty="0"/>
              <a:t>Overall performance </a:t>
            </a:r>
          </a:p>
          <a:p>
            <a:pPr lvl="0"/>
            <a:r>
              <a:rPr lang="en-IN" sz="2400" b="0" dirty="0"/>
              <a:t>Topic-level accuracy </a:t>
            </a:r>
          </a:p>
          <a:p>
            <a:pPr lvl="0"/>
            <a:r>
              <a:rPr lang="en-IN" sz="2400" b="0" dirty="0"/>
              <a:t>Weak topic identification </a:t>
            </a:r>
          </a:p>
          <a:p>
            <a:pPr lvl="0"/>
            <a:r>
              <a:rPr lang="en-IN" sz="2400" b="0" dirty="0"/>
              <a:t>Learning priority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Results &amp; Evaluation</a:t>
            </a:r>
            <a:endParaRPr kumimoji="0" lang="en-US" sz="3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563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Knowledge Base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Sneha shree S</cp:lastModifiedBy>
  <cp:revision>19</cp:revision>
  <dcterms:created xsi:type="dcterms:W3CDTF">2024-05-13T10:33:11Z</dcterms:created>
  <dcterms:modified xsi:type="dcterms:W3CDTF">2026-10-08T03:04:30Z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